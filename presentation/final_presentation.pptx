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5e84c2858643b4" /><Relationship Type="http://schemas.openxmlformats.org/officeDocument/2006/relationships/extended-properties" Target="/docProps/app.xml" Id="Rabfd8d2d8bcb4ff0" /><Relationship Type="http://schemas.openxmlformats.org/officeDocument/2006/relationships/officeDocument" Target="/ppt/presentation.xml" Id="Rb20a8b80d0cb43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5560ef54dc45d3"/>
  </p:sldMasterIdLst>
  <p:notesMasterIdLst>
    <p:notesMasterId xmlns:r="http://schemas.openxmlformats.org/officeDocument/2006/relationships" r:id="Re2757ec394524722"/>
  </p:notesMasterIdLst>
  <p:sldIdLst>
    <p:sldId xmlns:r="http://schemas.openxmlformats.org/officeDocument/2006/relationships" id="256" r:id="R563d621ceb3b4066"/>
    <p:sldId xmlns:r="http://schemas.openxmlformats.org/officeDocument/2006/relationships" id="257" r:id="R5aa362c19e8f41b5"/>
    <p:sldId xmlns:r="http://schemas.openxmlformats.org/officeDocument/2006/relationships" id="258" r:id="Rda7c27755d584ecb"/>
    <p:sldId xmlns:r="http://schemas.openxmlformats.org/officeDocument/2006/relationships" id="259" r:id="R7168083e371b440b"/>
    <p:sldId xmlns:r="http://schemas.openxmlformats.org/officeDocument/2006/relationships" id="260" r:id="R0d88a19343874843"/>
    <p:sldId xmlns:r="http://schemas.openxmlformats.org/officeDocument/2006/relationships" id="261" r:id="Rfcaf616fb83b4b89"/>
    <p:sldId xmlns:r="http://schemas.openxmlformats.org/officeDocument/2006/relationships" id="262" r:id="R2b2de8d308de488b"/>
    <p:sldId xmlns:r="http://schemas.openxmlformats.org/officeDocument/2006/relationships" id="263" r:id="R0e8d0b4c6e384e2f"/>
    <p:sldId xmlns:r="http://schemas.openxmlformats.org/officeDocument/2006/relationships" id="264" r:id="R475b3e3eca31486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eb0b521a1e48e5" /><Relationship Type="http://schemas.openxmlformats.org/officeDocument/2006/relationships/slideMaster" Target="/ppt/slideMasters/slideMaster1.xml" Id="R865560ef54dc45d3" /><Relationship Type="http://schemas.openxmlformats.org/officeDocument/2006/relationships/notesMaster" Target="/ppt/notesMasters/notesMaster1.xml" Id="Re2757ec394524722" /><Relationship Type="http://schemas.openxmlformats.org/officeDocument/2006/relationships/presProps" Target="/ppt/presProps.xml" Id="R6637969027324453" /><Relationship Type="http://schemas.openxmlformats.org/officeDocument/2006/relationships/tableStyles" Target="/ppt/tableStyles.xml" Id="Rf4e211874d5245ea" /><Relationship Type="http://schemas.openxmlformats.org/officeDocument/2006/relationships/slide" Target="/ppt/slides/slide1.xml" Id="R563d621ceb3b4066" /><Relationship Type="http://schemas.openxmlformats.org/officeDocument/2006/relationships/slide" Target="/ppt/slides/slide2.xml" Id="R5aa362c19e8f41b5" /><Relationship Type="http://schemas.openxmlformats.org/officeDocument/2006/relationships/slide" Target="/ppt/slides/slide3.xml" Id="Rda7c27755d584ecb" /><Relationship Type="http://schemas.openxmlformats.org/officeDocument/2006/relationships/slide" Target="/ppt/slides/slide4.xml" Id="R7168083e371b440b" /><Relationship Type="http://schemas.openxmlformats.org/officeDocument/2006/relationships/slide" Target="/ppt/slides/slide5.xml" Id="R0d88a19343874843" /><Relationship Type="http://schemas.openxmlformats.org/officeDocument/2006/relationships/slide" Target="/ppt/slides/slide6.xml" Id="Rfcaf616fb83b4b89" /><Relationship Type="http://schemas.openxmlformats.org/officeDocument/2006/relationships/slide" Target="/ppt/slides/slide7.xml" Id="R2b2de8d308de488b" /><Relationship Type="http://schemas.openxmlformats.org/officeDocument/2006/relationships/slide" Target="/ppt/slides/slide8.xml" Id="R0e8d0b4c6e384e2f" /><Relationship Type="http://schemas.openxmlformats.org/officeDocument/2006/relationships/slide" Target="/ppt/slides/slide9.xml" Id="R475b3e3eca3148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0624a6d3244f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bd80976cc4455f" /><Relationship Type="http://schemas.openxmlformats.org/officeDocument/2006/relationships/notesMaster" Target="/ppt/notesMasters/notesMaster1.xml" Id="Re7b1612af2d74c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6781cf29924ca9" /><Relationship Type="http://schemas.openxmlformats.org/officeDocument/2006/relationships/notesMaster" Target="/ppt/notesMasters/notesMaster1.xml" Id="R7fcadd4770684c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6e2511ad2b4bf7" /><Relationship Type="http://schemas.openxmlformats.org/officeDocument/2006/relationships/notesMaster" Target="/ppt/notesMasters/notesMaster1.xml" Id="R25385a61ac2b4f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e6dd2063a2435e" /><Relationship Type="http://schemas.openxmlformats.org/officeDocument/2006/relationships/notesMaster" Target="/ppt/notesMasters/notesMaster1.xml" Id="R028c623f30b243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e84d81d831469c" /><Relationship Type="http://schemas.openxmlformats.org/officeDocument/2006/relationships/notesMaster" Target="/ppt/notesMasters/notesMaster1.xml" Id="R4512bf4cd6c84c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724f5d63d2454a" /><Relationship Type="http://schemas.openxmlformats.org/officeDocument/2006/relationships/notesMaster" Target="/ppt/notesMasters/notesMaster1.xml" Id="R1513a5dbd34147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376fe98e4d4844" /><Relationship Type="http://schemas.openxmlformats.org/officeDocument/2006/relationships/notesMaster" Target="/ppt/notesMasters/notesMaster1.xml" Id="R9bf9e775c0ee46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4a5a67988f40f4" /><Relationship Type="http://schemas.openxmlformats.org/officeDocument/2006/relationships/notesMaster" Target="/ppt/notesMasters/notesMaster1.xml" Id="R8dd65f2b6e8544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a240e924e941b4" /><Relationship Type="http://schemas.openxmlformats.org/officeDocument/2006/relationships/notesMaster" Target="/ppt/notesMasters/notesMaster1.xml" Id="Ra3ab8c72b1ef4b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3e48e502d24d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ca5a71de9d47fd" /><Relationship Type="http://schemas.openxmlformats.org/officeDocument/2006/relationships/slideLayout" Target="/ppt/slideLayouts/slideLayout1.xml" Id="Rc1ef64aa000d41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ef64aa000d41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d10d17da64e70" /><Relationship Type="http://schemas.openxmlformats.org/officeDocument/2006/relationships/notesSlide" Target="/ppt/notesSlides/notesSlide1.xml" Id="R79c881c9f18649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dfaae57a0446e" /><Relationship Type="http://schemas.openxmlformats.org/officeDocument/2006/relationships/notesSlide" Target="/ppt/notesSlides/notesSlide2.xml" Id="R625535659b9d44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b60a52e9440c5" /><Relationship Type="http://schemas.openxmlformats.org/officeDocument/2006/relationships/notesSlide" Target="/ppt/notesSlides/notesSlide3.xml" Id="R1bcafb29be8840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f2a6d17b64329" /><Relationship Type="http://schemas.openxmlformats.org/officeDocument/2006/relationships/image" Target="/ppt/media/image.png" Id="R54f64b70052648a2" /><Relationship Type="http://schemas.openxmlformats.org/officeDocument/2006/relationships/notesSlide" Target="/ppt/notesSlides/notesSlide4.xml" Id="Rcd6da812cf6f4b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64f75e6f5417f" /><Relationship Type="http://schemas.openxmlformats.org/officeDocument/2006/relationships/chart" Target="/ppt/slides/charts/chart1.xml" Id="R9b0d0b4c8248447a" /><Relationship Type="http://schemas.openxmlformats.org/officeDocument/2006/relationships/notesSlide" Target="/ppt/notesSlides/notesSlide5.xml" Id="R8889a9a0346d46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67d86db4e4004" /><Relationship Type="http://schemas.openxmlformats.org/officeDocument/2006/relationships/image" Target="/ppt/media/image2.png" Id="Rfcf19bb284cc4471" /><Relationship Type="http://schemas.openxmlformats.org/officeDocument/2006/relationships/notesSlide" Target="/ppt/notesSlides/notesSlide6.xml" Id="R7ad0fa362fed4c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681479172412d" /><Relationship Type="http://schemas.openxmlformats.org/officeDocument/2006/relationships/notesSlide" Target="/ppt/notesSlides/notesSlide7.xml" Id="R16e887511f6942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869879d2a4fe3" /><Relationship Type="http://schemas.openxmlformats.org/officeDocument/2006/relationships/notesSlide" Target="/ppt/notesSlides/notesSlide8.xml" Id="R4bcb82a6f3644d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554eefdd0479a" /><Relationship Type="http://schemas.openxmlformats.org/officeDocument/2006/relationships/notesSlide" Target="/ppt/notesSlides/notesSlide9.xml" Id="Re1974235eed6431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F1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7"/>
              <c:pt idx="0">
                <c:v>SVM</c:v>
              </c:pt>
              <c:pt idx="1">
                <c:v>AdaBoost</c:v>
              </c:pt>
              <c:pt idx="2">
                <c:v>NB</c:v>
              </c:pt>
              <c:pt idx="3">
                <c:v>Logistic metrics</c:v>
              </c:pt>
              <c:pt idx="4">
                <c:v>Logistic Regression</c:v>
              </c:pt>
              <c:pt idx="5">
                <c:v>KNN</c:v>
              </c:pt>
              <c:pt idx="6">
                <c:v>GradBoost</c:v>
              </c:pt>
            </c:strLit>
          </c:cat>
          <c:val>
            <c:numLit>
              <c:formatCode>General</c:formatCode>
              <c:ptCount val="7"/>
              <c:pt idx="0">
                <c:v>0.879</c:v>
              </c:pt>
              <c:pt idx="1">
                <c:v>0.873</c:v>
              </c:pt>
              <c:pt idx="2">
                <c:v>0.868</c:v>
              </c:pt>
              <c:pt idx="3">
                <c:v>0.857</c:v>
              </c:pt>
              <c:pt idx="4">
                <c:v>0.857</c:v>
              </c:pt>
              <c:pt idx="5">
                <c:v>0.825</c:v>
              </c:pt>
              <c:pt idx="6">
                <c:v>0.8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0D5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75D311-5181-4541-92AF-82B2EC51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GSSRP 2026 | KEAN UNIVERSITY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FFBA3-C8D9-4E24-9BD7-21F3DF82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7239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Predicting Student</a:t>
            </a:r>
          </a:p>
          <a:p xmlns:a="http://schemas.openxmlformats.org/drawingml/2006/main">
            <a:pPr algn="l">
              <a:defRPr sz="54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Academic Success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646D7-F479-4500-8777-1794F5C8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76600"/>
            <a:ext cx="714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Interpretable machine learning with public educational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A7110-BA15-4236-8886-0B9044DE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95375"/>
            <a:ext cx="3714750" cy="3762375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87B36-88DC-4433-8104-D85F46F1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668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CENTRAL FINDING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7A1A8-1AC3-4D82-BD18-2FB952A8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383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Bagging Regressor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72CCA-40E4-4019-BBA7-858BF9AA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908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RMSE 3.7619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ADE5C-8EA1-4388-8FC7-D1E91333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956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SVM classifier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E8153-FB1D-464D-AD9E-CC2BD21D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576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F1 0.8785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70E3E-87E9-4D69-9D97-6264F9EF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626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Yousef Nejatbakhsh | Final presentation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094E6-9869-4629-83A4-31A7B19F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419102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E6D26C-DF1F-45D5-98B8-758061FF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FINAL RESEARCH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0610C-C77F-4CE1-88CA-FC599AA3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question is not only whether prediction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E69B5-838D-4617-B556-7E1FF6DA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F347D-3245-4044-853D-85DA7879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6190F-A197-40BC-9A6B-7A7FE2AF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907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Research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B8A32-D609-4F2F-B031-6A6CE7EF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24100"/>
            <a:ext cx="50958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044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Which interpretable machine-learning models best predict student academic outcomes, and how can those predictions support timely assistance responsibly?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87081-3E19-410B-A0A2-F4B3A8CF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90F10-047F-4404-BDB6-BC5C69CC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What the study evaluates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2629F-F68D-4EA7-807E-4FF5B093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4857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Regression for continuous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Classification for academic-success categories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Interpretability, leakage control, and responsible 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8C93D-F07C-4870-B3E7-2801BBD1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Prediction supports decisions; it does not prove causation or define a student.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04670-85CC-4E33-BC16-E5EBA0C2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Source: final_research_report.md</a:t>
            </a:r>
          </a:p>
        </p:txBody>
      </p:sp>
    </p:spTree>
    <p:extLst>
      <p:ext uri="{BB962C8B-B14F-4D97-AF65-F5344CB8AC3E}">
        <p14:creationId xmlns:p14="http://schemas.microsoft.com/office/powerpoint/2010/main" val="1245234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49B180-416A-4E8E-ACD7-F13B5C35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FINAL RESEARCH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AC17A-F2F6-4C25-9AB1-C50AB029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 reproducible comparison across two prediction tasks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80AF5-97D2-4BFB-8C81-2142048A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579D5-D90C-4E8B-80E6-0F8BE1FB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D2D0A-2BD5-4936-B4B9-3FFE7BF8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859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17565-C54B-4A1F-8F7A-C737DF3D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PUBLIC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3A978-6C4E-4B33-8AB6-8E8B13C4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62300"/>
            <a:ext cx="3238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Repository-documented educational data with saved preprocessing and feature definitions.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E1750-6010-446A-894F-E0933119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859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C8C10-5858-47AF-8E87-56A2C59D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5717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CONSISTENT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CBBFA-07E5-49FB-835F-326047B1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62300"/>
            <a:ext cx="3238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Shared train-test partitions and pipelines support fair comparison across models.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73DC98-4F7E-44E3-84D1-86ECA71C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859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C2F2F-C6DF-4CB5-BC7E-E3A73E54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LEAKAGE-AWARE TIMING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62661-F736-4AD8-A2E3-2E66B042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62300"/>
            <a:ext cx="3238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Early-warning features exclude later grades such as G1 and G2 when unavailable at decision time.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F04BC-5B4B-4805-9ECC-103B8E75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12 regression models | 7 classification rows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B31F5F-C69A-47BE-8930-714C4206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Source: final report and saved leaderboards</a:t>
            </a:r>
          </a:p>
        </p:txBody>
      </p:sp>
    </p:spTree>
    <p:extLst>
      <p:ext uri="{BB962C8B-B14F-4D97-AF65-F5344CB8AC3E}">
        <p14:creationId xmlns:p14="http://schemas.microsoft.com/office/powerpoint/2010/main" val="18112936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EB5172-24A4-43F1-99F7-BC7918D7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FINAL RESEARCH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ED15D-71B6-41E7-918E-4EE5551D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Bagging Regressor leads regression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A330B-175E-4AFF-B8E5-392F82A9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80249-7A4B-435D-8754-9CA20C5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64b70052648a2"/>
          <a:stretch xmlns:a="http://schemas.openxmlformats.org/drawingml/2006/main"/>
        </p:blipFill>
        <p:spPr>
          <a:xfrm xmlns:a="http://schemas.openxmlformats.org/drawingml/2006/main">
            <a:off x="887968" y="1666875"/>
            <a:ext cx="7463314" cy="4333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B15AB-D7E4-4477-B9B9-8E68030D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2571750" cy="3476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12975-D4DB-4D9A-92FA-94645EDA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52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BEST SAVED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13A50-E2BC-4820-B5DE-6F8B70B0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47950"/>
            <a:ext cx="200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8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Bagging Regressor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15A29-9D40-440C-A9D8-73DB8A7E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71875"/>
            <a:ext cx="2000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RMSE  3.7619</a:t>
            </a:r>
          </a:p>
          <a:p xmlns:a="http://schemas.openxmlformats.org/drawingml/2006/main">
            <a:pPr algn="l">
              <a:defRPr sz="18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MAE    2.9887</a:t>
            </a:r>
          </a:p>
          <a:p xmlns:a="http://schemas.openxmlformats.org/drawingml/2006/main">
            <a:pPr algn="l">
              <a:defRPr sz="18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R²       0.3098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C58B6-E8D7-4D6D-9B84-3DD26320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5245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Lower RMSE indicates lower typical prediction error.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A41DC-B594-409C-93F1-C18C1F1E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Source: regression_leaderboard.csv and regression_rmse_comparison.png</a:t>
            </a:r>
          </a:p>
        </p:txBody>
      </p:sp>
    </p:spTree>
    <p:extLst>
      <p:ext uri="{BB962C8B-B14F-4D97-AF65-F5344CB8AC3E}">
        <p14:creationId xmlns:p14="http://schemas.microsoft.com/office/powerpoint/2010/main" val="12968312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788342-5DE9-40B3-984C-82C9AAF3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FINAL RESEARCH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C726F-E184-4580-8CE4-7B88F159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SVM achieves the strongest saved F1 score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F1A40-2916-4B35-8CB5-FA2BA911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366A8-813D-44BC-A7D7-1F0A2D2A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23875" y="1714500"/>
          <a:ext xmlns:a="http://schemas.openxmlformats.org/drawingml/2006/main" cx="66675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0d0b4c8248447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69C4D-67E1-46F2-A05F-7571DA5C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90700"/>
            <a:ext cx="3810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705FF-6CAB-4734-B2C9-F72720C5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SVM TEST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A0FB3-DF9F-4AFA-9EFA-E50B64B5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3143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Accuracy   0.835</a:t>
            </a:r>
          </a:p>
          <a:p xmlns:a="http://schemas.openxmlformats.org/drawingml/2006/main">
            <a:pPr algn="l">
              <a:defRPr sz="20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Precision  0.792</a:t>
            </a:r>
          </a:p>
          <a:p xmlns:a="http://schemas.openxmlformats.org/drawingml/2006/main">
            <a:pPr algn="l">
              <a:defRPr sz="20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Recall       0.904</a:t>
            </a:r>
          </a:p>
          <a:p xmlns:a="http://schemas.openxmlformats.org/drawingml/2006/main">
            <a:pPr algn="l">
              <a:defRPr sz="20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F1             0.879</a:t>
            </a:r>
          </a:p>
          <a:p xmlns:a="http://schemas.openxmlformats.org/drawingml/2006/main">
            <a:pPr algn="l">
              <a:defRPr sz="20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ROC AUC   0.939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04E5B-1D8F-44DB-8EAC-A9517801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Source: classification_leaderboard.csv; ranking uses F1</a:t>
            </a:r>
          </a:p>
        </p:txBody>
      </p:sp>
    </p:spTree>
    <p:extLst>
      <p:ext uri="{BB962C8B-B14F-4D97-AF65-F5344CB8AC3E}">
        <p14:creationId xmlns:p14="http://schemas.microsoft.com/office/powerpoint/2010/main" val="14898769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725767-345C-41BE-AA80-DAF95A1B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FINAL RESEARCH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F6428-664C-4F80-A17C-300A964A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Absences and failures lead feature importance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03CA4-880F-474E-BA31-FE23E45C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35E2E-8038-444A-B3F7-B49A8BF3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f19bb284cc4471"/>
          <a:stretch xmlns:a="http://schemas.openxmlformats.org/drawingml/2006/main"/>
        </p:blipFill>
        <p:spPr>
          <a:xfrm xmlns:a="http://schemas.openxmlformats.org/drawingml/2006/main">
            <a:off x="1247556" y="1666875"/>
            <a:ext cx="6220262" cy="4333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28AF5-A9C2-452C-9CF1-97AD6FA7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240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83308-5211-4D8D-89D7-D6CED559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7146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fitted model relied most strongly on absences and failures.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Importance measures association within this model, not causation.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Correlated predictors can divide or redistribute importance.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320B03-3D08-427C-866E-25A665D1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Source: feature_importance.png and model_card.md</a:t>
            </a:r>
          </a:p>
        </p:txBody>
      </p:sp>
    </p:spTree>
    <p:extLst>
      <p:ext uri="{BB962C8B-B14F-4D97-AF65-F5344CB8AC3E}">
        <p14:creationId xmlns:p14="http://schemas.microsoft.com/office/powerpoint/2010/main" val="11825243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C6696A-B498-46B9-9321-7A2978BD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FINAL RESEARCH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BA1AD-5F1B-4664-B3A4-FEF14D04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Leakage-aware early warning is the responsible choice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CD141-1412-427F-A1B4-0E389CDA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41B00-B6DE-4388-857E-2DF80DBF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53D62-B0EA-4555-B3ED-140F4CB5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FULL-FEATURE SETTING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EC932-F6E0-4468-B18D-A7ACBF4A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4619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May include later-grade information that improves apparent accuracy but is unavailable when early support decisions must be made.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5D90B-6E45-4307-AB98-21EE66AD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EARLY-WARNING SETTING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67822-77C8-4EBA-97CD-465CABC3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667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Excludes G1 and G2 when they are not available at the intended decision time, reducing leakage and improving practical relevance.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D2295-2C30-4CC9-830F-9C766C6F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D6ABBA-DD25-40D0-9F10-8E841B11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62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02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Decision rule: prefer information that truly exists at the intervention point, even when peak accuracy is lower.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5F3BF-0598-42B5-8B49-4E72AE45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Source: final_research_report.md; no numerical full-vs-early gap is claimed</a:t>
            </a:r>
          </a:p>
        </p:txBody>
      </p:sp>
    </p:spTree>
    <p:extLst>
      <p:ext uri="{BB962C8B-B14F-4D97-AF65-F5344CB8AC3E}">
        <p14:creationId xmlns:p14="http://schemas.microsoft.com/office/powerpoint/2010/main" val="18854207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BDF52D-3C42-4F69-8D8A-558A5B17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FINAL RESEARCH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54401-1D21-402A-ACEB-803EB1C6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39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Accuracy is not permission to automate high-stakes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CB488-ED8A-4091-BE85-BC146115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D9C0A-3D3A-4ED2-8624-7A6C6A47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34CFA-8B85-4045-BB14-1ED7106B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5737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4E453-4A39-4C26-AA48-FC124525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0030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One public dataset may not generalize to other schools or populations.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Historical and measurement bias can reproduce inequities.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Split variation, correlated predictors, and leakage affect rankings.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0E881-3B8B-4512-8470-4431052C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RESPONSIBLE 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E9B93-9F1B-4815-A296-7F38A619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485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Use predictions to offer voluntary academic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Require qualified human review and student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Never use the model for surveillance, punishment, exclusion, or permanent labeling.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D4B41-1982-416E-84FF-9799074E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Source: model_card.md and final_research_report.md</a:t>
            </a:r>
          </a:p>
        </p:txBody>
      </p:sp>
    </p:spTree>
    <p:extLst>
      <p:ext uri="{BB962C8B-B14F-4D97-AF65-F5344CB8AC3E}">
        <p14:creationId xmlns:p14="http://schemas.microsoft.com/office/powerpoint/2010/main" val="72974828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0AFC54-E285-4E88-ACEB-D4AD19D2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B0E9A-5CD0-43DD-B94F-F9D54B67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Model choice depends on the task, the metric, and the decision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9296A-D5C2-4AC1-B1BF-D91A2EF0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719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Bagging Regressor leads regression at RMSE 3.7619.</a:t>
            </a:r>
          </a:p>
          <a:p xmlns:a="http://schemas.openxmlformats.org/drawingml/2006/main">
            <a:pPr algn="l">
              <a:defRPr sz="21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SVM leads classification by F1 at 0.8785.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ED8C8-B7B7-4C66-BEE1-7197F002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D62BE-9CB8-4CB0-AE24-22E49C70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295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External validation</a:t>
            </a:r>
          </a:p>
          <a:p xmlns:a="http://schemas.openxmlformats.org/drawingml/2006/main">
            <a:pPr algn="l">
              <a:defRPr sz="18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Subgroup fairness analysis</a:t>
            </a:r>
          </a:p>
          <a:p xmlns:a="http://schemas.openxmlformats.org/drawingml/2006/main">
            <a:pPr algn="l">
              <a:defRPr sz="18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Calibration and monitoring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50F5A-6535-4933-B5F7-891CAD4D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AFD52-CA99-4A44-AC88-CBAB5690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102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Support intervention. Preserve privacy. Keep humans accountable.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99381-7987-4779-9964-A3281F5F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807644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2026-07-18T23:10:55.3710000Z</dcterms:created>
  <dcterms:modified xsi:type="dcterms:W3CDTF">2026-07-18T23:10:55.3720000Z</dcterms:modified>
</coreProperties>
</file>